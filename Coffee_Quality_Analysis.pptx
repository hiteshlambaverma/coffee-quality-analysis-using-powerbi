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318412-7A10-4480-A6DB-C7B05158BF04}">
  <a:tblStyle styleId="{87318412-7A10-4480-A6DB-C7B05158BF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04658c7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804658c7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ea24cc7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7ea24cc7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22825"/>
            <a:ext cx="85206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0555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Coffee Quality Institute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94150"/>
            <a:ext cx="85206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530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Non Profit Organisation</a:t>
            </a:r>
            <a:endParaRPr/>
          </a:p>
          <a:p>
            <a:pPr indent="-3530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Working With Growers, Processors, Roasters and Other Stakeholders</a:t>
            </a:r>
            <a:endParaRPr/>
          </a:p>
          <a:p>
            <a:pPr indent="-35306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Help to improve coffee quality and value worldwide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589950" y="4410200"/>
            <a:ext cx="1964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1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Submitted by : Hitesh Verma</a:t>
            </a:r>
            <a:endParaRPr b="0" i="0" sz="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To figure out what factors improve the coffee quality.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To figure out what factors degrade the coffee quality.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To figure out what to do for the best coffee quality.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What determines coffee quality?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23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Total Cup points-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Calculated by sum of score of sensory attributes.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Sensory Attributes:</a:t>
            </a:r>
            <a:br>
              <a:rPr lang="en"/>
            </a:b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Aroma, Acidity, Aftertaste, Flavour, Clean Cup, Body, Balance, Sweetness, Uniformity, Overall.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3650650" y="4837525"/>
            <a:ext cx="8148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23550"/>
            <a:ext cx="85206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What key Attributes influence the fluctuations in coffee points?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4557950"/>
            <a:ext cx="8520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All sensory attributes equally determine Total Cup points.</a:t>
            </a:r>
            <a:endParaRPr/>
          </a:p>
        </p:txBody>
      </p:sp>
      <p:pic>
        <p:nvPicPr>
          <p:cNvPr id="76" name="Google Shape;76;p16" title="Screenshot 2025-09-12 at 11.54.34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4050" y="828225"/>
            <a:ext cx="2352275" cy="348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Screenshot 2025-09-13 at 12.12.48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04750"/>
            <a:ext cx="5736500" cy="32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What could be affecting Total cup point?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Defects- Category 1 and Category 2 Defects.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Quakers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Moisture Percentage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Coffee 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Processing Methods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Variety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Altitude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Country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100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What is actually Affecting?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0" name="Google Shape;90;p18" title="Screenshot 2025-09-13 at 12.23.32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782475"/>
            <a:ext cx="3637776" cy="22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Screenshot 2025-09-13 at 12.23.57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800" y="698275"/>
            <a:ext cx="3524676" cy="20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5-09-13 at 12.43.09 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9480" y="1152475"/>
            <a:ext cx="4512051" cy="30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265775" y="123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What is actually affecting?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9" name="Google Shape;99;p19" title="Screenshot 2025-09-13 at 12.45.26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000" y="102988"/>
            <a:ext cx="3371324" cy="493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114825"/>
            <a:ext cx="8520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What is Actually not affecting?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6" name="Google Shape;106;p20" title="Screenshot 2025-09-13 at 12.45.00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2" y="824050"/>
            <a:ext cx="2823225" cy="420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Screenshot 2025-09-13 at 12.45.49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7279" y="742700"/>
            <a:ext cx="2849440" cy="440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Screenshot 2025-09-13 at 12.46.56 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9064" y="725975"/>
            <a:ext cx="2784017" cy="440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123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What is not affecting Total cup points?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5" name="Google Shape;115;p21" title="Screenshot 2025-09-13 at 12.25.14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075" y="889775"/>
            <a:ext cx="4699326" cy="31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 title="Screenshot 2025-09-17 at 9.00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6400" y="2259504"/>
            <a:ext cx="4267600" cy="2883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123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What is not affecting Total cup points?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3" name="Google Shape;123;p22" title="Screenshot 2025-09-13 at 12.43.3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3800" y="885425"/>
            <a:ext cx="6356399" cy="425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6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Top Categories by Total Cup points: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4351275"/>
            <a:ext cx="8520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The most Repeated values tell us that they are actually good and the key influencers of Total cup points.</a:t>
            </a:r>
            <a:endParaRPr sz="1300"/>
          </a:p>
        </p:txBody>
      </p:sp>
      <p:graphicFrame>
        <p:nvGraphicFramePr>
          <p:cNvPr id="130" name="Google Shape;130;p23"/>
          <p:cNvGraphicFramePr/>
          <p:nvPr/>
        </p:nvGraphicFramePr>
        <p:xfrm>
          <a:off x="311688" y="63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</a:tblGrid>
              <a:tr h="30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Processing Method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Variety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Country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Region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Avg Quakers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Moisture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4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Double Anaerobic Washed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Castillo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Columbia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Piendamo Cauca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11.80 %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3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1" name="Google Shape;131;p23"/>
          <p:cNvGraphicFramePr/>
          <p:nvPr/>
        </p:nvGraphicFramePr>
        <p:xfrm>
          <a:off x="311700" y="250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Country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Processing method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Variety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Region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Avg Quakers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Moisture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Ethiopia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Natural/Dry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Gesha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Guji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1.73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11.08%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2" name="Google Shape;132;p23"/>
          <p:cNvGraphicFramePr/>
          <p:nvPr/>
        </p:nvGraphicFramePr>
        <p:xfrm>
          <a:off x="311688" y="155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</a:tblGrid>
              <a:tr h="42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Variety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Processing Method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Country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Region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Avg Quakers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Moisture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49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Castillo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Double Anaerobic Washed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Columbia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Piendamo Cauca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11.80%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3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3" name="Google Shape;133;p23"/>
          <p:cNvGraphicFramePr/>
          <p:nvPr/>
        </p:nvGraphicFramePr>
        <p:xfrm>
          <a:off x="311700" y="328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Region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Processing Method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Variety 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Country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Avg Quakers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Moisture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Piendamo Cauca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Double Anaerobic Washed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Castillo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Columbia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11.80%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3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10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Lowest Categories by Total cup points: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4340750"/>
            <a:ext cx="85206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The most Repeated values tell us that they are actually bad and actually degrading Total cup points.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ct val="90000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The most Repeated values in Top and lowest are not determining Total Cup Points.</a:t>
            </a:r>
            <a:endParaRPr sz="1300"/>
          </a:p>
        </p:txBody>
      </p:sp>
      <p:graphicFrame>
        <p:nvGraphicFramePr>
          <p:cNvPr id="140" name="Google Shape;140;p24"/>
          <p:cNvGraphicFramePr/>
          <p:nvPr/>
        </p:nvGraphicFramePr>
        <p:xfrm>
          <a:off x="311688" y="63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</a:tblGrid>
              <a:tr h="30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Processing Method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Variety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Country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Region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Avg Quakers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Moisture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4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Semi Lavado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Mundo Novo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Brazil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Minas Gerais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11.30 %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1" name="Google Shape;141;p24"/>
          <p:cNvGraphicFramePr/>
          <p:nvPr/>
        </p:nvGraphicFramePr>
        <p:xfrm>
          <a:off x="311700" y="250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Country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Processing method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Variety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Region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Avg Quakers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Moisture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El Salvador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Pulped/Natural Honey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Pacamara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Chalatenango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5.29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11.20%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4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2" name="Google Shape;142;p24"/>
          <p:cNvGraphicFramePr/>
          <p:nvPr/>
        </p:nvGraphicFramePr>
        <p:xfrm>
          <a:off x="311688" y="155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</a:tblGrid>
              <a:tr h="42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Variety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Processing Method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Country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Region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Avg Quakers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Moisture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49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Catuai and Mundo Novo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Natural/ Dry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Brazil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Alta Mogiana-Ibiraci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1.00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11.60%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3" name="Google Shape;143;p24"/>
          <p:cNvGraphicFramePr/>
          <p:nvPr/>
        </p:nvGraphicFramePr>
        <p:xfrm>
          <a:off x="311700" y="341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  <a:gridCol w="1096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Region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Processing Method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Variety 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Country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Avg Quakers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Moisture 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Defects 2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Minas Gerais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Semi Lavado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Mundo Novo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Brazil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11.30%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Top Categories: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3875950"/>
            <a:ext cx="85206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Moisture % and Category 1 Defects are almost same in both top and lowest Table, which means these are not the determining factors of Total Cup Points.</a:t>
            </a:r>
            <a:endParaRPr/>
          </a:p>
        </p:txBody>
      </p:sp>
      <p:graphicFrame>
        <p:nvGraphicFramePr>
          <p:cNvPr id="150" name="Google Shape;150;p25"/>
          <p:cNvGraphicFramePr/>
          <p:nvPr/>
        </p:nvGraphicFramePr>
        <p:xfrm>
          <a:off x="4182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Processing Method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Variety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Country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Region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Double Anaerobic Washed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Castillo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/>
                        <a:t>Columbia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Piendamo Cauca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" name="Google Shape;151;p25"/>
          <p:cNvSpPr txBox="1"/>
          <p:nvPr>
            <p:ph type="title"/>
          </p:nvPr>
        </p:nvSpPr>
        <p:spPr>
          <a:xfrm>
            <a:off x="418225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Lowest Categories:</a:t>
            </a:r>
            <a:endParaRPr/>
          </a:p>
        </p:txBody>
      </p:sp>
      <p:graphicFrame>
        <p:nvGraphicFramePr>
          <p:cNvPr id="152" name="Google Shape;152;p25"/>
          <p:cNvGraphicFramePr/>
          <p:nvPr/>
        </p:nvGraphicFramePr>
        <p:xfrm>
          <a:off x="418225" y="280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Processing Method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Variety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Country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Region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Semi Lavado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Mundo Novo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Brazil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Minas Gerais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83800"/>
            <a:ext cx="85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Quakers and Defects by Different Categories: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59" name="Google Shape;159;p26" title="Screenshot 2025-09-13 at 1.00.44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276" y="695950"/>
            <a:ext cx="4087176" cy="44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Screenshot 2025-09-13 at 1.01.00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3203" y="695950"/>
            <a:ext cx="4119097" cy="44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67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Quakers and Defects by Different Categories: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Screenshot 2025-09-13 at 1.01.19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176" y="609225"/>
            <a:ext cx="4107436" cy="450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 title="Screenshot 2025-09-13 at 1.01.45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99" y="609225"/>
            <a:ext cx="4027485" cy="4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78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Best performing Categories with least defects and Quakers:</a:t>
            </a:r>
            <a:endParaRPr sz="2120"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5" name="Google Shape;175;p28" title="Screenshot 2025-09-13 at 3.05.5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100" y="607575"/>
            <a:ext cx="8201201" cy="45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88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Best performing Categories with least defects and Quakers: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2" name="Google Shape;182;p29" title="Screenshot 2025-09-13 at 3.06.24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776" y="661550"/>
            <a:ext cx="8090451" cy="456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311700" y="67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Best performing Categories with least defects and Quakers: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9" name="Google Shape;189;p30" title="Screenshot 2025-09-13 at 3.07.0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00" y="640600"/>
            <a:ext cx="8083850" cy="454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78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Best performing Categories with least defects and Quakers: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6" name="Google Shape;196;p31" title="Screenshot 2025-09-13 at 3.13.44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50" y="571713"/>
            <a:ext cx="8139502" cy="45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99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Best performing Categories with least defects and Quakers: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11700" y="1189525"/>
            <a:ext cx="85206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97297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The common Categories with least quakers and defects in both charts will be the best .</a:t>
            </a:r>
            <a:endParaRPr/>
          </a:p>
        </p:txBody>
      </p:sp>
      <p:graphicFrame>
        <p:nvGraphicFramePr>
          <p:cNvPr id="203" name="Google Shape;203;p32"/>
          <p:cNvGraphicFramePr/>
          <p:nvPr/>
        </p:nvGraphicFramePr>
        <p:xfrm>
          <a:off x="386800" y="1784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046300"/>
                <a:gridCol w="1046300"/>
                <a:gridCol w="1046300"/>
                <a:gridCol w="1046300"/>
                <a:gridCol w="1046300"/>
                <a:gridCol w="1046300"/>
                <a:gridCol w="1046300"/>
                <a:gridCol w="10463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Processing Method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Pulped Natural Honey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Washed/ Wet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Natural/ Dry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Variety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Bourbon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Caturra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SL34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Gesha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Country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Tanzania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Costa Rica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Taiwan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Region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Kilimanjaro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Los Santos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Shibi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Tolima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Yunlin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Chiayi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Acatenango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4" name="Google Shape;204;p32"/>
          <p:cNvSpPr txBox="1"/>
          <p:nvPr/>
        </p:nvSpPr>
        <p:spPr>
          <a:xfrm>
            <a:off x="408150" y="3658925"/>
            <a:ext cx="83277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These Categories along with the top categories can be used for a good coffee quality. The country and region will help us with things like type of soil, temperature etc. for better coffee quality with less defects and quakers.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22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Top Categories:</a:t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11700" y="3875950"/>
            <a:ext cx="85206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Moisture % and Category 1 Defects are almost same in both top and lowest Table, which means these are not the determining factors of Total Cup Points.</a:t>
            </a:r>
            <a:endParaRPr/>
          </a:p>
        </p:txBody>
      </p:sp>
      <p:graphicFrame>
        <p:nvGraphicFramePr>
          <p:cNvPr id="211" name="Google Shape;211;p33"/>
          <p:cNvGraphicFramePr/>
          <p:nvPr/>
        </p:nvGraphicFramePr>
        <p:xfrm>
          <a:off x="4182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Processing Method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Variety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Country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Region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Double Anaerobic Washed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Castillo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/>
                        <a:t>Columbia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Piendamo Cauca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2" name="Google Shape;212;p33"/>
          <p:cNvSpPr txBox="1"/>
          <p:nvPr>
            <p:ph type="title"/>
          </p:nvPr>
        </p:nvSpPr>
        <p:spPr>
          <a:xfrm>
            <a:off x="418225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Lowest Categories:</a:t>
            </a:r>
            <a:endParaRPr/>
          </a:p>
        </p:txBody>
      </p:sp>
      <p:graphicFrame>
        <p:nvGraphicFramePr>
          <p:cNvPr id="213" name="Google Shape;213;p33"/>
          <p:cNvGraphicFramePr/>
          <p:nvPr/>
        </p:nvGraphicFramePr>
        <p:xfrm>
          <a:off x="418225" y="280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{87318412-7A10-4480-A6DB-C7B05158BF04}</a:tableStyleId>
              </a:tblPr>
              <a:tblGrid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Processing Method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Variety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Country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Region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Semi Lavado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Mundo Novo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Brazil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Minas Gerais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CE4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3200">
                <a:solidFill>
                  <a:srgbClr val="6F4E37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